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324000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00000"/>
                </a:solidFill>
                <a:latin typeface="DM Sans"/>
              </a:rPr>
              <a:t>ADVISOR PITCH CARD  ·  HEALTH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6000" y="50688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000000"/>
                </a:solidFill>
                <a:latin typeface="Nunito Black"/>
              </a:rPr>
              <a:t>PB Health Hospital </a:t>
            </a:r>
            <a:r>
              <a:rPr sz="2100" b="1">
                <a:solidFill>
                  <a:srgbClr val="EA4722"/>
                </a:solidFill>
                <a:latin typeface="Nunito Black"/>
              </a:rPr>
              <a:t>Pitch it on every 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" y="927504"/>
            <a:ext cx="7680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DM Sans Medium"/>
              </a:rPr>
              <a:t>Policybazaar's own 100-bed multispeciality hospital  ·  MG Road, Gurugram</a:t>
            </a:r>
          </a:p>
        </p:txBody>
      </p:sp>
      <p:pic>
        <p:nvPicPr>
          <p:cNvPr id="5" name="Picture 4" descr="accent-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0" y="1174392"/>
            <a:ext cx="1656000" cy="57600"/>
          </a:xfrm>
          <a:prstGeom prst="rect">
            <a:avLst/>
          </a:prstGeom>
        </p:spPr>
      </p:pic>
      <p:pic>
        <p:nvPicPr>
          <p:cNvPr id="6" name="Picture 5" descr="pb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5472" y="324000"/>
            <a:ext cx="1195620" cy="468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96000" y="1278000"/>
            <a:ext cx="6030688" cy="1481328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1387727"/>
            <a:ext cx="5742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30" b="1">
                <a:solidFill>
                  <a:srgbClr val="EA4722"/>
                </a:solidFill>
                <a:latin typeface="DM Sans"/>
              </a:rPr>
              <a:t>THE 30-SECOND PITCH  ·  SAY IT WORD FOR 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607184"/>
            <a:ext cx="5742688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40" b="0">
                <a:solidFill>
                  <a:srgbClr val="000000"/>
                </a:solidFill>
                <a:latin typeface="DM Sans Medium"/>
              </a:rPr>
              <a:t>Sir, ek important baat: </a:t>
            </a:r>
            <a:r>
              <a:rPr sz="1040" b="1">
                <a:solidFill>
                  <a:srgbClr val="EA4722"/>
                </a:solidFill>
                <a:latin typeface="DM Sans Medium"/>
              </a:rPr>
              <a:t>Policybazaar ka khud ka hospital</a:t>
            </a:r>
            <a:r>
              <a:rPr sz="1040" b="0">
                <a:solidFill>
                  <a:srgbClr val="000000"/>
                </a:solidFill>
                <a:latin typeface="DM Sans Medium"/>
              </a:rPr>
              <a:t> khul gaya hai, </a:t>
            </a:r>
            <a:r>
              <a:rPr sz="1040" b="1">
                <a:solidFill>
                  <a:srgbClr val="EA4722"/>
                </a:solidFill>
                <a:latin typeface="DM Sans Medium"/>
              </a:rPr>
              <a:t>PB Health Hospital, MG Road, Gurugram</a:t>
            </a:r>
            <a:r>
              <a:rPr sz="1040" b="0">
                <a:solidFill>
                  <a:srgbClr val="000000"/>
                </a:solidFill>
                <a:latin typeface="DM Sans Medium"/>
              </a:rPr>
              <a:t>. India mein yeh akeli insurance company hai jiska apna hospital hai. 100-bed multispeciality hospital hai: modular OT, critical care, MRI, CT, Cath Lab. Doctors salaried hain, commission nahi, toh sirf zaroori treatment. PB customer ko day one se consultation pe 50% off aur tests pe 20% off. Aur claim ki tension nahi: policy PB se, claim advisor PB ka, hospital PB ka. 100% claim guarantee.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70688" y="1278000"/>
            <a:ext cx="3722647" cy="1481328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4688" y="1387727"/>
            <a:ext cx="34346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30" b="1">
                <a:solidFill>
                  <a:srgbClr val="01589F"/>
                </a:solidFill>
                <a:latin typeface="DM Sans"/>
              </a:rPr>
              <a:t>WHEN TO SAY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4688" y="1588896"/>
            <a:ext cx="3434647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900" b="0">
                <a:solidFill>
                  <a:srgbClr val="000000"/>
                </a:solidFill>
                <a:latin typeface="DM Sans"/>
              </a:rPr>
              <a:t>•  Right after you share the premium: "ek aur benefit jo sirf PB pe milta hai"</a:t>
            </a:r>
          </a:p>
          <a:p>
            <a:pPr algn="l">
              <a:spcAft>
                <a:spcPts val="150"/>
              </a:spcAft>
            </a:pPr>
            <a:r>
              <a:rPr sz="900" b="0">
                <a:solidFill>
                  <a:srgbClr val="000000"/>
                </a:solidFill>
                <a:latin typeface="DM Sans"/>
              </a:rPr>
              <a:t>•  Customer worries about claim rejection or paperwork</a:t>
            </a:r>
          </a:p>
          <a:p>
            <a:pPr algn="l">
              <a:spcAft>
                <a:spcPts val="150"/>
              </a:spcAft>
            </a:pPr>
            <a:r>
              <a:rPr sz="900" b="0">
                <a:solidFill>
                  <a:srgbClr val="000000"/>
                </a:solidFill>
                <a:latin typeface="DM Sans"/>
              </a:rPr>
              <a:t>•  Parents, senior citizens, or BP / sugar / heart in the family</a:t>
            </a:r>
          </a:p>
          <a:p>
            <a:pPr algn="l">
              <a:spcAft>
                <a:spcPts val="150"/>
              </a:spcAft>
            </a:pPr>
            <a:r>
              <a:rPr sz="900" b="0">
                <a:solidFill>
                  <a:srgbClr val="000000"/>
                </a:solidFill>
                <a:latin typeface="DM Sans"/>
              </a:rPr>
              <a:t>•  Customer lives in Delhi NCR: open with the location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14688" y="2283840"/>
            <a:ext cx="3434647" cy="384048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7840" y="2311272"/>
            <a:ext cx="328834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40" b="0">
                <a:solidFill>
                  <a:srgbClr val="000000"/>
                </a:solidFill>
                <a:latin typeface="DM Sans"/>
              </a:rPr>
              <a:t>Outside NCR? Lead with the claim promise. The hospital is proof that PB stands behind claims. Don't ask them to travel.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6000" y="2903328"/>
            <a:ext cx="9897336" cy="841248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0" y="301305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30" b="1">
                <a:solidFill>
                  <a:srgbClr val="01589F"/>
                </a:solidFill>
                <a:latin typeface="DM Sans"/>
              </a:rPr>
              <a:t>5 POINTS, IN THIS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00" y="3232512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A4722"/>
                </a:solidFill>
                <a:latin typeface="Nunito Black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888" y="3232512"/>
            <a:ext cx="15597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000000"/>
                </a:solidFill>
                <a:latin typeface="DM Sans"/>
              </a:rPr>
              <a:t>Own hospital</a:t>
            </a:r>
          </a:p>
          <a:p>
            <a:pPr algn="l">
              <a:spcAft>
                <a:spcPts val="0"/>
              </a:spcAft>
            </a:pPr>
            <a:r>
              <a:rPr sz="840" b="0">
                <a:solidFill>
                  <a:srgbClr val="000000"/>
                </a:solidFill>
                <a:latin typeface="DM Sans"/>
              </a:rPr>
              <a:t>India's only insurance company with its own hospital.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90667" y="3232512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A4722"/>
                </a:solidFill>
                <a:latin typeface="Nunito Black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37555" y="3232512"/>
            <a:ext cx="15597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000000"/>
                </a:solidFill>
                <a:latin typeface="DM Sans"/>
              </a:rPr>
              <a:t>Real hospital</a:t>
            </a:r>
          </a:p>
          <a:p>
            <a:pPr algn="l">
              <a:spcAft>
                <a:spcPts val="0"/>
              </a:spcAft>
            </a:pPr>
            <a:r>
              <a:rPr sz="840" b="0">
                <a:solidFill>
                  <a:srgbClr val="000000"/>
                </a:solidFill>
                <a:latin typeface="DM Sans"/>
              </a:rPr>
              <a:t>100-bed multispeciality: modular OT, critical care, MRI, CT, Cath Lab.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1334" y="3232512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A4722"/>
                </a:solidFill>
                <a:latin typeface="Nunito Black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8222" y="3232512"/>
            <a:ext cx="15597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000000"/>
                </a:solidFill>
                <a:latin typeface="DM Sans"/>
              </a:rPr>
              <a:t>Honest doctors</a:t>
            </a:r>
          </a:p>
          <a:p>
            <a:pPr algn="l">
              <a:spcAft>
                <a:spcPts val="0"/>
              </a:spcAft>
            </a:pPr>
            <a:r>
              <a:rPr sz="840" b="0">
                <a:solidFill>
                  <a:srgbClr val="000000"/>
                </a:solidFill>
                <a:latin typeface="DM Sans"/>
              </a:rPr>
              <a:t>Salaried, no commission. Ex-Apollo, Max, Narayana, Manipal, Armed Forces.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2001" y="3232512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A4722"/>
                </a:solidFill>
                <a:latin typeface="Nunito Black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8889" y="3232512"/>
            <a:ext cx="15597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000000"/>
                </a:solidFill>
                <a:latin typeface="DM Sans"/>
              </a:rPr>
              <a:t>Day-1 savings</a:t>
            </a:r>
          </a:p>
          <a:p>
            <a:pPr algn="l">
              <a:spcAft>
                <a:spcPts val="0"/>
              </a:spcAft>
            </a:pPr>
            <a:r>
              <a:rPr sz="840" b="0">
                <a:solidFill>
                  <a:srgbClr val="000000"/>
                </a:solidFill>
                <a:latin typeface="DM Sans"/>
              </a:rPr>
              <a:t>50% off consultations, 20% off tests and scans.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2668" y="3232512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A4722"/>
                </a:solidFill>
                <a:latin typeface="Nunito Black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89556" y="3232512"/>
            <a:ext cx="15597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000000"/>
                </a:solidFill>
                <a:latin typeface="DM Sans"/>
              </a:rPr>
              <a:t>Claim promise</a:t>
            </a:r>
          </a:p>
          <a:p>
            <a:pPr algn="l">
              <a:spcAft>
                <a:spcPts val="0"/>
              </a:spcAft>
            </a:pPr>
            <a:r>
              <a:rPr sz="840" b="0">
                <a:solidFill>
                  <a:srgbClr val="000000"/>
                </a:solidFill>
                <a:latin typeface="DM Sans"/>
              </a:rPr>
              <a:t>100% claim guarantee. A PB RM reaches the hospital within 30 minutes.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6000" y="3888576"/>
            <a:ext cx="6030688" cy="201168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0" y="3998304"/>
            <a:ext cx="5742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30" b="1">
                <a:solidFill>
                  <a:srgbClr val="EA4722"/>
                </a:solidFill>
                <a:latin typeface="DM Sans"/>
              </a:rPr>
              <a:t>WHEN THE CUSTOMER ASKS   </a:t>
            </a:r>
            <a:r>
              <a:rPr sz="760" b="0">
                <a:solidFill>
                  <a:srgbClr val="666666"/>
                </a:solidFill>
                <a:latin typeface="DM Sans"/>
              </a:rPr>
              <a:t>Real questions from 9,770 calls, most asked first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000" y="4236048"/>
            <a:ext cx="27993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"/>
              </a:spcAft>
            </a:pPr>
            <a:r>
              <a:rPr sz="900" b="1">
                <a:solidFill>
                  <a:srgbClr val="01589F"/>
                </a:solidFill>
                <a:latin typeface="DM Sans"/>
              </a:rPr>
              <a:t>"Kahan hai? Bahut door hai."</a:t>
            </a:r>
          </a:p>
          <a:p>
            <a:pPr algn="l">
              <a:spcAft>
                <a:spcPts val="50"/>
              </a:spcAft>
            </a:pPr>
            <a:r>
              <a:rPr sz="860" b="0">
                <a:solidFill>
                  <a:srgbClr val="000000"/>
                </a:solidFill>
                <a:latin typeface="DM Sans"/>
              </a:rPr>
              <a:t>MG Road, Gurugram. Abhi pehla hospital yahi hai, Noida aur Delhi next. Claim ke time PB ka RM 30 minute mein hospital pahunchta hai.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83344" y="4236048"/>
            <a:ext cx="27993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"/>
              </a:spcAft>
            </a:pPr>
            <a:r>
              <a:rPr sz="900" b="1">
                <a:solidFill>
                  <a:srgbClr val="01589F"/>
                </a:solidFill>
                <a:latin typeface="DM Sans"/>
              </a:rPr>
              <a:t>"Hospital hai ya clinic? Admit hota hai?"</a:t>
            </a:r>
          </a:p>
          <a:p>
            <a:pPr algn="l">
              <a:spcAft>
                <a:spcPts val="50"/>
              </a:spcAft>
            </a:pPr>
            <a:r>
              <a:rPr sz="860" b="0">
                <a:solidFill>
                  <a:srgbClr val="000000"/>
                </a:solidFill>
                <a:latin typeface="DM Sans"/>
              </a:rPr>
              <a:t>100-bed multispeciality hospital: OT, critical care, MRI, CT, Cath Lab. Consultation se surgery aur admission tak.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000" y="4802976"/>
            <a:ext cx="27993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"/>
              </a:spcAft>
            </a:pPr>
            <a:r>
              <a:rPr sz="900" b="1">
                <a:solidFill>
                  <a:srgbClr val="01589F"/>
                </a:solidFill>
                <a:latin typeface="DM Sans"/>
              </a:rPr>
              <a:t>"Discount kitna milega?"</a:t>
            </a:r>
          </a:p>
          <a:p>
            <a:pPr algn="l">
              <a:spcAft>
                <a:spcPts val="50"/>
              </a:spcAft>
            </a:pPr>
            <a:r>
              <a:rPr sz="860" b="0">
                <a:solidFill>
                  <a:srgbClr val="000000"/>
                </a:solidFill>
                <a:latin typeface="DM Sans"/>
              </a:rPr>
              <a:t>PB customer ko day one se: consultation pe 50% off, tests aur scans pe 20% off.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83344" y="4802976"/>
            <a:ext cx="27993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"/>
              </a:spcAft>
            </a:pPr>
            <a:r>
              <a:rPr sz="900" b="1">
                <a:solidFill>
                  <a:srgbClr val="01589F"/>
                </a:solidFill>
                <a:latin typeface="DM Sans"/>
              </a:rPr>
              <a:t>"Doctors kaun hain? Max jaisa hai?"</a:t>
            </a:r>
          </a:p>
          <a:p>
            <a:pPr algn="l">
              <a:spcAft>
                <a:spcPts val="50"/>
              </a:spcAft>
            </a:pPr>
            <a:r>
              <a:rPr sz="860" b="0">
                <a:solidFill>
                  <a:srgbClr val="000000"/>
                </a:solidFill>
                <a:latin typeface="DM Sans"/>
              </a:rPr>
              <a:t>Apollo, Max, Narayana, Manipal aur Armed Forces ke senior doctors. Salaried hain, commission nahi.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0000" y="5369904"/>
            <a:ext cx="27993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"/>
              </a:spcAft>
            </a:pPr>
            <a:r>
              <a:rPr sz="900" b="1">
                <a:solidFill>
                  <a:srgbClr val="01589F"/>
                </a:solidFill>
                <a:latin typeface="DM Sans"/>
              </a:rPr>
              <a:t>"Zarurat nahi, aage chalo."</a:t>
            </a:r>
          </a:p>
          <a:p>
            <a:pPr algn="l">
              <a:spcAft>
                <a:spcPts val="50"/>
              </a:spcAft>
            </a:pPr>
            <a:r>
              <a:rPr sz="860" b="0">
                <a:solidFill>
                  <a:srgbClr val="000000"/>
                </a:solidFill>
                <a:latin typeface="DM Sans"/>
              </a:rPr>
              <a:t>Bilkul sir. Bas yaad rakhiye: hospital, doctor aur claim advisor, teeno PB ke. Location WhatsApp kar deta hoon. (Then move on.)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70688" y="3888576"/>
            <a:ext cx="3722647" cy="93384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714688" y="3980016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015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14688" y="398001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60" b="1">
                <a:solidFill>
                  <a:srgbClr val="FFFFFF"/>
                </a:solidFill>
                <a:latin typeface="DM Sans"/>
              </a:rPr>
              <a:t>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14688" y="4217760"/>
            <a:ext cx="3434647" cy="549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60" b="0">
                <a:solidFill>
                  <a:srgbClr val="000000"/>
                </a:solidFill>
                <a:latin typeface="DM Sans"/>
              </a:rPr>
              <a:t>•  Say all three: "Policybazaar ka khud ka hospital", "PB Health Hospital", "MG Road, Gurugram" (the call tracker listens for these).</a:t>
            </a:r>
          </a:p>
          <a:p>
            <a:pPr algn="l">
              <a:spcAft>
                <a:spcPts val="100"/>
              </a:spcAft>
            </a:pPr>
            <a:r>
              <a:rPr sz="860" b="0">
                <a:solidFill>
                  <a:srgbClr val="000000"/>
                </a:solidFill>
                <a:latin typeface="DM Sans"/>
              </a:rPr>
              <a:t>•  Say what it treats: "100-bed multispeciality".</a:t>
            </a:r>
          </a:p>
          <a:p>
            <a:pPr algn="l">
              <a:spcAft>
                <a:spcPts val="100"/>
              </a:spcAft>
            </a:pPr>
            <a:r>
              <a:rPr sz="860" b="0">
                <a:solidFill>
                  <a:srgbClr val="000000"/>
                </a:solidFill>
                <a:latin typeface="DM Sans"/>
              </a:rPr>
              <a:t>•  Pitch on every health call, in or outside NCR.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70688" y="4966416"/>
            <a:ext cx="3722647" cy="93384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714688" y="5057856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E64E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14688" y="505785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60" b="1">
                <a:solidFill>
                  <a:srgbClr val="FFFFFF"/>
                </a:solidFill>
                <a:latin typeface="DM Sans"/>
              </a:rPr>
              <a:t>DON'T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14688" y="5295600"/>
            <a:ext cx="3434647" cy="549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60" b="0">
                <a:solidFill>
                  <a:srgbClr val="000000"/>
                </a:solidFill>
                <a:latin typeface="DM Sans"/>
              </a:rPr>
              <a:t>•  Say Noida, Delhi or Faridabad is open: only MG Road is.</a:t>
            </a:r>
          </a:p>
          <a:p>
            <a:pPr algn="l">
              <a:spcAft>
                <a:spcPts val="100"/>
              </a:spcAft>
            </a:pPr>
            <a:r>
              <a:rPr sz="860" b="0">
                <a:solidFill>
                  <a:srgbClr val="000000"/>
                </a:solidFill>
                <a:latin typeface="DM Sans"/>
              </a:rPr>
              <a:t>•  Call it a clinic or an "OPD card", or give opening dates.</a:t>
            </a:r>
          </a:p>
          <a:p>
            <a:pPr algn="l">
              <a:spcAft>
                <a:spcPts val="100"/>
              </a:spcAft>
            </a:pPr>
            <a:r>
              <a:rPr sz="860" b="0">
                <a:solidFill>
                  <a:srgbClr val="000000"/>
                </a:solidFill>
                <a:latin typeface="DM Sans"/>
              </a:rPr>
              <a:t>•  Say only "apna hospital": it sounds like "choose your own".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96000" y="6044256"/>
            <a:ext cx="2393334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96000" y="6099120"/>
            <a:ext cx="239333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1589F"/>
                </a:solidFill>
                <a:latin typeface="DM Sans"/>
              </a:rPr>
              <a:t>4 in 10  </a:t>
            </a:r>
            <a:r>
              <a:rPr sz="819" b="0">
                <a:solidFill>
                  <a:srgbClr val="333333"/>
                </a:solidFill>
                <a:latin typeface="DM Sans"/>
              </a:rPr>
              <a:t>Gurgaon calls mention the hospital today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897334" y="6044256"/>
            <a:ext cx="2393334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897334" y="6099120"/>
            <a:ext cx="239333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1589F"/>
                </a:solidFill>
                <a:latin typeface="DM Sans"/>
              </a:rPr>
              <a:t>78%  </a:t>
            </a:r>
            <a:r>
              <a:rPr sz="819" b="0">
                <a:solidFill>
                  <a:srgbClr val="333333"/>
                </a:solidFill>
                <a:latin typeface="DM Sans"/>
              </a:rPr>
              <a:t>of pitches never say what it treats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398668" y="6044256"/>
            <a:ext cx="2393334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398668" y="6099120"/>
            <a:ext cx="239333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1589F"/>
                </a:solidFill>
                <a:latin typeface="DM Sans"/>
              </a:rPr>
              <a:t>3%  </a:t>
            </a:r>
            <a:r>
              <a:rPr sz="819" b="0">
                <a:solidFill>
                  <a:srgbClr val="333333"/>
                </a:solidFill>
                <a:latin typeface="DM Sans"/>
              </a:rPr>
              <a:t>mention salaried doctors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900002" y="6044256"/>
            <a:ext cx="2393334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900002" y="6099120"/>
            <a:ext cx="239333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1589F"/>
                </a:solidFill>
                <a:latin typeface="DM Sans"/>
              </a:rPr>
              <a:t>#1  </a:t>
            </a:r>
            <a:r>
              <a:rPr sz="819" b="0">
                <a:solidFill>
                  <a:srgbClr val="333333"/>
                </a:solidFill>
                <a:latin typeface="DM Sans"/>
              </a:rPr>
              <a:t>customer question: "Kahan hai?"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6000" y="7268472"/>
            <a:ext cx="989733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666666"/>
                </a:solidFill>
                <a:latin typeface="DM Sans"/>
              </a:rPr>
              <a:t>Numbers: 6,378 Gurgaon FF calls (8 Sep - 20 Oct 2026) and 9,770 health sales calls (30 Sep - 20 Oct 2026), Policybazaar call portal. Facts: PB Health sales team advisor guide, Oct 2026.</a:t>
            </a:r>
          </a:p>
        </p:txBody>
      </p:sp>
      <p:pic>
        <p:nvPicPr>
          <p:cNvPr id="51" name="Picture 50" descr="footer-gradi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2087"/>
            <a:ext cx="10689336" cy="89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