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455" r:id="rId25"/>
    <p:sldId id="463" r:id="rId4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1C0BD4-B821-496E-1061-C02231CC4264}" name="Praful Puranik" initials="P" userId="S::Praful.Puranik@pbhealth1.onmicrosoft.com::fbcf6586-9dd7-4d02-8059-24b78a7f872c" providerId="AD"/>
  <p188:author id="{7DB42ADE-3CC5-2607-CFD5-4C2AD6F6546F}" name="Shubham Khurana" initials="SK" userId="S::shubham.khurana@pbhealth1.onmicrosoft.com::fbf95817-d7ac-4183-877d-f1deabac35c8" providerId="AD"/>
  <p188:author id="{EEF52DFF-D332-EBCA-0DE1-EBE8480BD5C7}" name="Guest User" initials="GU" userId="S::urn:spo:tenantanon#1fb24620-25cd-4c90-99ff-710abe120080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F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04" dt="2026-10-21T08:06:54.464"/>
    <p1510:client id="{46E91A80-E50F-46CA-8E2B-21EC56140D38}" v="3555" dt="2026-10-21T08:04:38.608"/>
    <p1510:client id="{B1A2291B-DC63-1FF8-3B8A-5BA93B52A2FC}" v="175" dt="2026-10-21T07:59:16.011"/>
    <p1510:client id="{C28AD3A7-99E7-85DD-50CD-0C97AE7DF3C0}" v="3" dt="2026-10-21T06:07:32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slide" Target="slides/slide1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5/10/relationships/revisionInfo" Target="revisionInfo.xml"/><Relationship Id="rId44" Type="http://schemas.microsoft.com/office/2018/10/relationships/authors" Target="authors.xml"/><Relationship Id="rId45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surveyed</c:v>
                </c:pt>
              </c:strCache>
            </c:strRef>
          </c:tx>
          <c:spPr>
            <a:solidFill>
              <a:srgbClr val="01579E"/>
            </a:solidFill>
          </c:spPr>
          <c:cat>
            <c:strRef>
              <c:f>Sheet1!$A$2:$A$5</c:f>
              <c:strCache>
                <c:ptCount val="4"/>
                <c:pt idx="0">
                  <c:v>P-84</c:v>
                </c:pt>
                <c:pt idx="1">
                  <c:v>P-120</c:v>
                </c:pt>
                <c:pt idx="2">
                  <c:v>P-116</c:v>
                </c:pt>
                <c:pt idx="3">
                  <c:v>P-119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13</c:v>
                </c:pt>
                <c:pt idx="2">
                  <c:v>11</c:v>
                </c:pt>
                <c:pt idx="3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 b="0">
                  <a:solidFill>
                    <a:srgbClr val="EA4722"/>
                  </a:solidFill>
                  <a:latin typeface="Nunito Extra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808080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DM Sans ExtraBol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A1A1A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those who knew</c:v>
                </c:pt>
              </c:strCache>
            </c:strRef>
          </c:tx>
          <c:spPr>
            <a:solidFill>
              <a:srgbClr val="01579E"/>
            </a:solidFill>
          </c:spPr>
          <c:cat>
            <c:strRef>
              <c:f>Sheet1!$A$2:$A$5</c:f>
              <c:strCache>
                <c:ptCount val="4"/>
                <c:pt idx="0">
                  <c:v>Standee / posters</c:v>
                </c:pt>
                <c:pt idx="1">
                  <c:v>Colleague</c:v>
                </c:pt>
                <c:pt idx="2">
                  <c:v>Office email</c:v>
                </c:pt>
                <c:pt idx="3">
                  <c:v>Social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0.6333333333333333</c:v>
                </c:pt>
                <c:pt idx="1">
                  <c:v>0.21666666666666667</c:v>
                </c:pt>
                <c:pt idx="2">
                  <c:v>0.11666666666666667</c:v>
                </c:pt>
                <c:pt idx="3">
                  <c:v>0.03333333333333333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0">
                  <a:solidFill>
                    <a:srgbClr val="EA4722"/>
                  </a:solidFill>
                  <a:latin typeface="Nunito Extra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808080"/>
            </a:solidFill>
          </a:ln>
        </c:spPr>
        <c:txPr>
          <a:bodyPr/>
          <a:lstStyle/>
          <a:p>
            <a:pPr>
              <a:defRPr sz="1000">
                <a:solidFill>
                  <a:srgbClr val="000000"/>
                </a:solidFill>
                <a:latin typeface="DM Sans ExtraBol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7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A1A1A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C26C7-A5AD-4BF8-9E6B-0043C5A3848A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01DF41-BAFA-4C5C-8721-13C03FD69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763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01AA-8799-E1FC-7C8C-0891EEFB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BCFFC0-586F-871E-09C6-3368EAD85CC6}"/>
              </a:ext>
            </a:extLst>
          </p:cNvPr>
          <p:cNvSpPr txBox="1"/>
          <p:nvPr/>
        </p:nvSpPr>
        <p:spPr>
          <a:xfrm>
            <a:off x="533400" y="165100"/>
            <a:ext cx="5588000" cy="165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IN" sz="900">
                <a:solidFill>
                  <a:srgbClr val="EA4722"/>
                </a:solidFill>
                <a:latin typeface="DM Sans ExtraBold"/>
              </a:rPr>
              <a:t>PB HEALTH  ·  EMPLOYEE AWARENESS SURVEY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00F0D-A742-5411-1DF2-52DE292A0FEF}"/>
              </a:ext>
            </a:extLst>
          </p:cNvPr>
          <p:cNvSpPr txBox="1"/>
          <p:nvPr/>
        </p:nvSpPr>
        <p:spPr>
          <a:xfrm>
            <a:off x="533400" y="330200"/>
            <a:ext cx="7874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noAutofit/>
          </a:bodyPr>
          <a:lstStyle/>
          <a:p>
            <a:r>
              <a:rPr lang="en-GB" sz="1900">
                <a:solidFill>
                  <a:srgbClr val="000000"/>
                </a:solidFill>
                <a:latin typeface="Nunito ExtraBold"/>
              </a:rPr>
              <a:t>Who we surveyed and how they heard about us</a:t>
            </a:r>
            <a:endParaRPr lang="en-IN" sz="1900">
              <a:solidFill>
                <a:srgbClr val="000000"/>
              </a:solidFill>
              <a:latin typeface="Nunito ExtraBold"/>
            </a:endParaRPr>
          </a:p>
        </p:txBody>
      </p:sp>
      <p:sp>
        <p:nvSpPr>
          <p:cNvPr id="20" name="Label PEOPLE SURVEYED">
            <a:extLst>
              <a:ext uri="{FF2B5EF4-FFF2-40B4-BE49-F238E27FC236}">
                <a16:creationId xmlns:a16="http://schemas.microsoft.com/office/drawing/2014/main" id="{00E28BCF-A616-487D-A74F-A1750555F9E9}"/>
              </a:ext>
            </a:extLst>
          </p:cNvPr>
          <p:cNvSpPr txBox="1"/>
          <p:nvPr/>
        </p:nvSpPr>
        <p:spPr>
          <a:xfrm>
            <a:off x="533400" y="896112"/>
            <a:ext cx="4069080" cy="152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GB" sz="900">
                <a:solidFill>
                  <a:srgbClr val="000000"/>
                </a:solidFill>
                <a:latin typeface="DM Sans ExtraBold"/>
              </a:rPr>
              <a:t>PEOPLE SURVEYED IN EACH BUILDING</a:t>
            </a:r>
            <a:endParaRPr lang="en-IN" sz="900">
              <a:solidFill>
                <a:srgbClr val="000000"/>
              </a:solidFill>
              <a:latin typeface="DM Sans ExtraBold"/>
            </a:endParaRPr>
          </a:p>
        </p:txBody>
      </p:sp>
      <p:sp>
        <p:nvSpPr>
          <p:cNvPr id="22" name="Label HOW THEY HEARD">
            <a:extLst>
              <a:ext uri="{FF2B5EF4-FFF2-40B4-BE49-F238E27FC236}">
                <a16:creationId xmlns:a16="http://schemas.microsoft.com/office/drawing/2014/main" id="{00E28BCF-A616-487D-A74F-A1750555F9E9}"/>
              </a:ext>
            </a:extLst>
          </p:cNvPr>
          <p:cNvSpPr txBox="1"/>
          <p:nvPr/>
        </p:nvSpPr>
        <p:spPr>
          <a:xfrm>
            <a:off x="5013960" y="896112"/>
            <a:ext cx="3596640" cy="152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GB" sz="900">
                <a:solidFill>
                  <a:srgbClr val="000000"/>
                </a:solidFill>
                <a:latin typeface="DM Sans ExtraBold"/>
              </a:rPr>
              <a:t>HOW THEY FIRST HEARD ABOUT PB HEALTH</a:t>
            </a:r>
            <a:endParaRPr lang="en-IN" sz="900">
              <a:solidFill>
                <a:srgbClr val="000000"/>
              </a:solidFill>
              <a:latin typeface="DM Sans ExtraBold"/>
            </a:endParaRPr>
          </a:p>
        </p:txBody>
      </p:sp>
      <p:pic>
        <p:nvPicPr>
          <p:cNvPr id="4" name="Picture 3" descr="footer-gradient.png">
            <a:extLst>
              <a:ext uri="{FF2B5EF4-FFF2-40B4-BE49-F238E27FC236}">
                <a16:creationId xmlns:a16="http://schemas.microsoft.com/office/drawing/2014/main" id="{07CD63EE-4FCA-0F03-55C7-9D4648F89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6632"/>
            <a:ext cx="9144000" cy="91440"/>
          </a:xfrm>
          <a:prstGeom prst="rect">
            <a:avLst/>
          </a:prstGeom>
        </p:spPr>
      </p:pic>
      <p:pic>
        <p:nvPicPr>
          <p:cNvPr id="12" name="Picture 11" descr="accent-bar.png">
            <a:extLst>
              <a:ext uri="{FF2B5EF4-FFF2-40B4-BE49-F238E27FC236}">
                <a16:creationId xmlns:a16="http://schemas.microsoft.com/office/drawing/2014/main" id="{4E66AF87-7625-E3CB-46A7-267C6F1C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" y="670347"/>
            <a:ext cx="8430260" cy="54864"/>
          </a:xfrm>
          <a:prstGeom prst="rect">
            <a:avLst/>
          </a:prstGeom>
        </p:spPr>
      </p:pic>
      <p:graphicFrame>
        <p:nvGraphicFramePr>
          <p:cNvPr id="23" name="Chart People surveyed by building"/>
          <p:cNvGraphicFramePr>
            <a:graphicFrameLocks noGrp="1"/>
          </p:cNvGraphicFramePr>
          <p:nvPr/>
        </p:nvGraphicFramePr>
        <p:xfrm>
          <a:off x="533400" y="1097280"/>
          <a:ext cx="4069080" cy="3520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4" name="Chart How they heard"/>
          <p:cNvGraphicFramePr>
            <a:graphicFrameLocks noGrp="1"/>
          </p:cNvGraphicFramePr>
          <p:nvPr/>
        </p:nvGraphicFramePr>
        <p:xfrm>
          <a:off x="5013960" y="1097280"/>
          <a:ext cx="3596640" cy="3520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0" name="Footnote">
            <a:extLst>
              <a:ext uri="{FF2B5EF4-FFF2-40B4-BE49-F238E27FC236}">
                <a16:creationId xmlns:a16="http://schemas.microsoft.com/office/drawing/2014/main" id="{DFA84389-5132-406E-8999-14D4F1F2C4EB}"/>
              </a:ext>
            </a:extLst>
          </p:cNvPr>
          <p:cNvSpPr txBox="1"/>
          <p:nvPr/>
        </p:nvSpPr>
        <p:spPr>
          <a:xfrm>
            <a:off x="533400" y="4791456"/>
            <a:ext cx="8077200" cy="15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IN" sz="800">
                <a:solidFill>
                  <a:srgbClr val="666666"/>
                </a:solidFill>
                <a:latin typeface="DM Sans"/>
              </a:rPr>
              <a:t>Survey on 22 Oct 2026, 62 people. The building chart leaves out 5 people from P-135 (4) and P-113 (1). How they heard counts the 60 who knew about the hospital.</a:t>
            </a:r>
          </a:p>
        </p:txBody>
      </p:sp>
    </p:spTree>
    <p:extLst>
      <p:ext uri="{BB962C8B-B14F-4D97-AF65-F5344CB8AC3E}">
        <p14:creationId xmlns:p14="http://schemas.microsoft.com/office/powerpoint/2010/main" val="338800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601AA-8799-E1FC-7C8C-0891EEFB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BCFFC0-586F-871E-09C6-3368EAD85CC6}"/>
              </a:ext>
            </a:extLst>
          </p:cNvPr>
          <p:cNvSpPr txBox="1"/>
          <p:nvPr/>
        </p:nvSpPr>
        <p:spPr>
          <a:xfrm>
            <a:off x="533400" y="165100"/>
            <a:ext cx="5588000" cy="1651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IN" sz="900">
                <a:solidFill>
                  <a:srgbClr val="EA4722"/>
                </a:solidFill>
                <a:latin typeface="DM Sans ExtraBold"/>
              </a:rPr>
              <a:t>PB HEALTH  ·  EMPLOYEE AWARENESS SURVEY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00F0D-A742-5411-1DF2-52DE292A0FEF}"/>
              </a:ext>
            </a:extLst>
          </p:cNvPr>
          <p:cNvSpPr txBox="1"/>
          <p:nvPr/>
        </p:nvSpPr>
        <p:spPr>
          <a:xfrm>
            <a:off x="533400" y="330200"/>
            <a:ext cx="7874000" cy="3302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b" anchorCtr="0">
            <a:noAutofit/>
          </a:bodyPr>
          <a:lstStyle/>
          <a:p>
            <a:r>
              <a:rPr lang="en-GB" sz="1900">
                <a:solidFill>
                  <a:srgbClr val="000000"/>
                </a:solidFill>
                <a:latin typeface="Nunito ExtraBold"/>
              </a:rPr>
              <a:t>People know the hospital, but not its benefits</a:t>
            </a:r>
            <a:endParaRPr lang="en-IN" sz="1900">
              <a:solidFill>
                <a:srgbClr val="000000"/>
              </a:solidFill>
              <a:latin typeface="Nunito ExtraBold"/>
            </a:endParaRPr>
          </a:p>
        </p:txBody>
      </p:sp>
      <p:sp>
        <p:nvSpPr>
          <p:cNvPr id="20" name="Label WHAT EMPLOYEES KNOW">
            <a:extLst>
              <a:ext uri="{FF2B5EF4-FFF2-40B4-BE49-F238E27FC236}">
                <a16:creationId xmlns:a16="http://schemas.microsoft.com/office/drawing/2014/main" id="{00E28BCF-A616-487D-A74F-A1750555F9E9}"/>
              </a:ext>
            </a:extLst>
          </p:cNvPr>
          <p:cNvSpPr txBox="1"/>
          <p:nvPr/>
        </p:nvSpPr>
        <p:spPr>
          <a:xfrm>
            <a:off x="533400" y="896112"/>
            <a:ext cx="4754880" cy="1524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GB" sz="900">
                <a:solidFill>
                  <a:srgbClr val="000000"/>
                </a:solidFill>
                <a:latin typeface="DM Sans ExtraBold"/>
              </a:rPr>
              <a:t>WHAT EMPLOYEES KNOW AND DO  ·  % OF PEOPLE IN EACH BUILDING</a:t>
            </a:r>
            <a:endParaRPr lang="en-IN" sz="900">
              <a:solidFill>
                <a:srgbClr val="000000"/>
              </a:solidFill>
              <a:latin typeface="DM Sans ExtraBold"/>
            </a:endParaRPr>
          </a:p>
        </p:txBody>
      </p:sp>
      <p:graphicFrame>
        <p:nvGraphicFramePr>
          <p:cNvPr id="21" name="Table WHAT EMPLOYEES KNOW">
            <a:extLst>
              <a:ext uri="{FF2B5EF4-FFF2-40B4-BE49-F238E27FC236}">
                <a16:creationId xmlns:a16="http://schemas.microsoft.com/office/drawing/2014/main" id="{463CAD2E-FEF6-4422-A95C-5F17A77C5A02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097280"/>
          <a:ext cx="807720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548640"/>
                <a:gridCol w="548640"/>
                <a:gridCol w="548640"/>
                <a:gridCol w="548640"/>
                <a:gridCol w="548640"/>
                <a:gridCol w="3322320"/>
              </a:tblGrid>
              <a:tr h="384048">
                <a:tc>
                  <a:txBody>
                    <a:bodyPr/>
                    <a:lstStyle/>
                    <a:p>
                      <a:pPr algn="l"/>
                      <a:endParaRPr lang="en-IN" sz="900"/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000000"/>
                          </a:solidFill>
                          <a:latin typeface="DM Sans ExtraBold"/>
                        </a:rPr>
                        <a:t>P-84</a:t>
                      </a:r>
                    </a:p>
                    <a:p>
                      <a:pPr algn="ctr"/>
                      <a:r>
                        <a:rPr lang="en-IN" sz="1000" b="1">
                          <a:solidFill>
                            <a:srgbClr val="EA4722"/>
                          </a:solidFill>
                          <a:latin typeface="DM Sans"/>
                        </a:rPr>
                        <a:t>23</a:t>
                      </a:r>
                    </a:p>
                  </a:txBody>
                  <a:tcPr marL="45720" marR="54864" marT="22860" marB="22860" anchor="b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000000"/>
                          </a:solidFill>
                          <a:latin typeface="DM Sans ExtraBold"/>
                        </a:rPr>
                        <a:t>P-120</a:t>
                      </a:r>
                    </a:p>
                    <a:p>
                      <a:pPr algn="ctr"/>
                      <a:r>
                        <a:rPr lang="en-IN" sz="1000" b="1">
                          <a:solidFill>
                            <a:srgbClr val="EA4722"/>
                          </a:solidFill>
                          <a:latin typeface="DM Sans"/>
                        </a:rPr>
                        <a:t>13</a:t>
                      </a:r>
                    </a:p>
                  </a:txBody>
                  <a:tcPr marL="45720" marR="54864" marT="22860" marB="22860" anchor="b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000000"/>
                          </a:solidFill>
                          <a:latin typeface="DM Sans ExtraBold"/>
                        </a:rPr>
                        <a:t>P-116</a:t>
                      </a:r>
                    </a:p>
                    <a:p>
                      <a:pPr algn="ctr"/>
                      <a:r>
                        <a:rPr lang="en-IN" sz="1000" b="1">
                          <a:solidFill>
                            <a:srgbClr val="EA4722"/>
                          </a:solidFill>
                          <a:latin typeface="DM Sans"/>
                        </a:rPr>
                        <a:t>11</a:t>
                      </a:r>
                    </a:p>
                  </a:txBody>
                  <a:tcPr marL="45720" marR="54864" marT="22860" marB="22860" anchor="b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000000"/>
                          </a:solidFill>
                          <a:latin typeface="DM Sans ExtraBold"/>
                        </a:rPr>
                        <a:t>P-119</a:t>
                      </a:r>
                    </a:p>
                    <a:p>
                      <a:pPr algn="ctr"/>
                      <a:r>
                        <a:rPr lang="en-IN" sz="1000" b="1">
                          <a:solidFill>
                            <a:srgbClr val="EA4722"/>
                          </a:solidFill>
                          <a:latin typeface="DM Sans"/>
                        </a:rPr>
                        <a:t>10</a:t>
                      </a:r>
                    </a:p>
                  </a:txBody>
                  <a:tcPr marL="45720" marR="54864" marT="22860" marB="22860" anchor="b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900" b="0">
                          <a:solidFill>
                            <a:srgbClr val="000000"/>
                          </a:solidFill>
                          <a:latin typeface="DM Sans ExtraBold"/>
                        </a:rPr>
                        <a:t>All</a:t>
                      </a:r>
                    </a:p>
                    <a:p>
                      <a:pPr algn="ctr"/>
                      <a:r>
                        <a:rPr lang="en-IN" sz="1000" b="1">
                          <a:solidFill>
                            <a:srgbClr val="EA4722"/>
                          </a:solidFill>
                          <a:latin typeface="DM Sans"/>
                        </a:rPr>
                        <a:t>62</a:t>
                      </a:r>
                    </a:p>
                  </a:txBody>
                  <a:tcPr marL="45720" marR="54864" marT="22860" marB="22860" anchor="b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00" b="0">
                          <a:solidFill>
                            <a:srgbClr val="000000"/>
                          </a:solidFill>
                          <a:latin typeface="DM Sans ExtraBold"/>
                        </a:rPr>
                        <a:t>WHAT IT TELLS US</a:t>
                      </a:r>
                    </a:p>
                  </a:txBody>
                  <a:tcPr marL="182880" marR="54864" marT="22860" marB="22860" anchor="b">
                    <a:lnL w="0"/>
                    <a:lnR w="0"/>
                    <a:lnT w="0"/>
                    <a:lnB w="12700" cap="flat" cmpd="sng" algn="ctr">
                      <a:solidFill>
                        <a:srgbClr val="1A1A1A"/>
                      </a:solidFill>
                      <a:prstDash val="solid"/>
                    </a:lnB>
                    <a:lnTlToBr w="0"/>
                    <a:lnBlToTr w="0"/>
                  </a:tcPr>
                </a:tc>
              </a:tr>
              <a:tr h="201168">
                <a:tc gridSpan="7">
                  <a:txBody>
                    <a:bodyPr/>
                    <a:lstStyle/>
                    <a:p>
                      <a:pPr algn="l"/>
                      <a:r>
                        <a:rPr lang="en-IN" sz="800" b="0">
                          <a:solidFill>
                            <a:srgbClr val="EA4722"/>
                          </a:solidFill>
                          <a:latin typeface="DM Sans ExtraBold"/>
                        </a:rPr>
                        <a:t>THE HOSPITAL</a:t>
                      </a:r>
                    </a:p>
                  </a:txBody>
                  <a:tcPr marL="45720" marR="54864" marT="4572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Knows about the hospital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91%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97%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A1A1A"/>
                          </a:solidFill>
                          <a:latin typeface="DM Sans ExtraBold"/>
                        </a:rPr>
                        <a:t>Not the problem. </a:t>
                      </a:r>
                      <a:r>
                        <a:rPr lang="en-IN" sz="1000" b="0">
                          <a:solidFill>
                            <a:srgbClr val="1A1A1A"/>
                          </a:solidFill>
                          <a:latin typeface="DM Sans"/>
                        </a:rPr>
                        <a:t>97% know PB Health has its own hospital and 98% know it is at IFFCO Chowk.</a:t>
                      </a:r>
                    </a:p>
                  </a:txBody>
                  <a:tcPr marL="182880" marR="45720" marT="22860" marB="2286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Knows it is at IFFCO Chowk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98%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Knows all services offered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100%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82%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90%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92%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01168">
                <a:tc gridSpan="7">
                  <a:txBody>
                    <a:bodyPr/>
                    <a:lstStyle/>
                    <a:p>
                      <a:pPr algn="l"/>
                      <a:r>
                        <a:rPr lang="en-IN" sz="800" b="0">
                          <a:solidFill>
                            <a:srgbClr val="EA4722"/>
                          </a:solidFill>
                          <a:latin typeface="DM Sans ExtraBold"/>
                        </a:rPr>
                        <a:t>THE BENEFITS</a:t>
                      </a:r>
                    </a:p>
                  </a:txBody>
                  <a:tcPr marL="45720" marR="54864" marT="45720" marB="0" anchor="ctr">
                    <a:lnL w="0"/>
                    <a:lnR w="0"/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0"/>
                    <a:lnTlToBr w="0"/>
                    <a:lnBlToTr w="0"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Knows 75% off consultation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78%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92%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EA4722"/>
                          </a:solidFill>
                          <a:latin typeface="DM Sans"/>
                        </a:rPr>
                        <a:t>27%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C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60%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63%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A1A1A"/>
                          </a:solidFill>
                          <a:latin typeface="DM Sans ExtraBold"/>
                        </a:rPr>
                        <a:t>The real gap. </a:t>
                      </a:r>
                      <a:r>
                        <a:rPr lang="en-IN" sz="1000" b="0">
                          <a:solidFill>
                            <a:srgbClr val="1A1A1A"/>
                          </a:solidFill>
                          <a:latin typeface="DM Sans"/>
                        </a:rPr>
                        <a:t>Those who miss the discount think there is none at all. P-116 is furthest behind. 1 in 3 don't know their family is covered.</a:t>
                      </a:r>
                    </a:p>
                  </a:txBody>
                  <a:tcPr marL="182880" marR="45720" marT="22860" marB="2286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Knows 30% off X-ray, CT, MRI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78%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77%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EA4722"/>
                          </a:solidFill>
                          <a:latin typeface="DM Sans"/>
                        </a:rPr>
                        <a:t>27%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C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60%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61%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Knows family is covered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74%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77%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64%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66%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01168">
                <a:tc gridSpan="7">
                  <a:txBody>
                    <a:bodyPr/>
                    <a:lstStyle/>
                    <a:p>
                      <a:pPr algn="l"/>
                      <a:r>
                        <a:rPr lang="en-IN" sz="800" b="0">
                          <a:solidFill>
                            <a:srgbClr val="EA4722"/>
                          </a:solidFill>
                          <a:latin typeface="DM Sans ExtraBold"/>
                        </a:rPr>
                        <a:t>ACTION</a:t>
                      </a:r>
                    </a:p>
                  </a:txBody>
                  <a:tcPr marL="45720" marR="54864" marT="45720" marB="0" anchor="ctr">
                    <a:lnL w="0"/>
                    <a:lnR w="0"/>
                    <a:lnT w="9525" cap="flat" cmpd="sng" algn="ctr">
                      <a:solidFill>
                        <a:srgbClr val="808080"/>
                      </a:solidFill>
                      <a:prstDash val="solid"/>
                    </a:lnT>
                    <a:lnB w="0"/>
                    <a:lnTlToBr w="0"/>
                    <a:lnBlToTr w="0"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Has the PB Health app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EA4722"/>
                          </a:solidFill>
                          <a:latin typeface="DM Sans"/>
                        </a:rPr>
                        <a:t>30%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C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62%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EA4722"/>
                          </a:solidFill>
                          <a:latin typeface="DM Sans"/>
                        </a:rPr>
                        <a:t>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C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EA4722"/>
                          </a:solidFill>
                          <a:latin typeface="DM Sans"/>
                        </a:rPr>
                        <a:t>10%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CE3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EA4722"/>
                          </a:solidFill>
                          <a:latin typeface="DM Sans"/>
                        </a:rPr>
                        <a:t>26%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CE3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IN" sz="1000" b="0">
                          <a:solidFill>
                            <a:srgbClr val="1A1A1A"/>
                          </a:solidFill>
                          <a:latin typeface="DM Sans ExtraBold"/>
                        </a:rPr>
                        <a:t>Benefits drive visits. </a:t>
                      </a:r>
                      <a:r>
                        <a:rPr lang="en-IN" sz="1000" b="0">
                          <a:solidFill>
                            <a:srgbClr val="1A1A1A"/>
                          </a:solidFill>
                          <a:latin typeface="DM Sans"/>
                        </a:rPr>
                        <a:t>85% of those who know the 75% discount will visit, against 35% of those who don't. Only 1 in 4 has the app.</a:t>
                      </a:r>
                    </a:p>
                  </a:txBody>
                  <a:tcPr marL="182880" marR="45720" marT="22860" marB="2286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Will visit next time</a:t>
                      </a:r>
                    </a:p>
                  </a:txBody>
                  <a:tcPr marL="45720" marR="54864" marT="22860" marB="22860" anchor="ctr">
                    <a:lnL w="0"/>
                    <a:lnR w="0"/>
                    <a:lnT w="0"/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65%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85%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73%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0">
                          <a:solidFill>
                            <a:srgbClr val="1A1A1A"/>
                          </a:solidFill>
                          <a:latin typeface="DM Sans"/>
                        </a:rPr>
                        <a:t>60%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50" b="1">
                          <a:solidFill>
                            <a:srgbClr val="1A1A1A"/>
                          </a:solidFill>
                          <a:latin typeface="DM Sans"/>
                        </a:rPr>
                        <a:t>66%</a:t>
                      </a:r>
                    </a:p>
                  </a:txBody>
                  <a:tcPr marL="45720" marR="54864" marT="22860" marB="22860" anchor="ctr">
                    <a:lnL w="25400" cap="flat" cmpd="sng" algn="ctr">
                      <a:solidFill>
                        <a:srgbClr val="FFFFFF"/>
                      </a:solidFill>
                      <a:prstDash val="soli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</a:lnB>
                    <a:lnTlToBr w="0"/>
                    <a:lnBlToTr w="0"/>
                    <a:solidFill>
                      <a:srgbClr val="F0F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ooter-gradient.png">
            <a:extLst>
              <a:ext uri="{FF2B5EF4-FFF2-40B4-BE49-F238E27FC236}">
                <a16:creationId xmlns:a16="http://schemas.microsoft.com/office/drawing/2014/main" id="{07CD63EE-4FCA-0F03-55C7-9D4648F89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6632"/>
            <a:ext cx="9144000" cy="91440"/>
          </a:xfrm>
          <a:prstGeom prst="rect">
            <a:avLst/>
          </a:prstGeom>
        </p:spPr>
      </p:pic>
      <p:pic>
        <p:nvPicPr>
          <p:cNvPr id="12" name="Picture 11" descr="accent-bar.png">
            <a:extLst>
              <a:ext uri="{FF2B5EF4-FFF2-40B4-BE49-F238E27FC236}">
                <a16:creationId xmlns:a16="http://schemas.microsoft.com/office/drawing/2014/main" id="{4E66AF87-7625-E3CB-46A7-267C6F1CC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" y="670347"/>
            <a:ext cx="8430260" cy="54864"/>
          </a:xfrm>
          <a:prstGeom prst="rect">
            <a:avLst/>
          </a:prstGeom>
        </p:spPr>
      </p:pic>
      <p:sp>
        <p:nvSpPr>
          <p:cNvPr id="20" name="Legend Under 50%">
            <a:extLst>
              <a:ext uri="{FF2B5EF4-FFF2-40B4-BE49-F238E27FC236}">
                <a16:creationId xmlns:a16="http://schemas.microsoft.com/office/drawing/2014/main" id="{00E28BCF-A616-487D-A74F-A1750555F9E9}"/>
              </a:ext>
            </a:extLst>
          </p:cNvPr>
          <p:cNvSpPr txBox="1"/>
          <p:nvPr/>
        </p:nvSpPr>
        <p:spPr>
          <a:xfrm>
            <a:off x="7988808" y="896112"/>
            <a:ext cx="621792" cy="15270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GB" sz="800">
                <a:solidFill>
                  <a:srgbClr val="666666"/>
                </a:solidFill>
                <a:latin typeface="DM Sans"/>
              </a:rPr>
              <a:t>Under 50%</a:t>
            </a:r>
            <a:endParaRPr lang="en-IN" sz="900">
              <a:solidFill>
                <a:srgbClr val="000000"/>
              </a:solidFill>
              <a:latin typeface="DM Sans ExtraBold"/>
            </a:endParaRPr>
          </a:p>
        </p:txBody>
      </p:sp>
      <p:sp>
        <p:nvSpPr>
          <p:cNvPr id="22" name="Legend swatch Under 50%"/>
          <p:cNvSpPr/>
          <p:nvPr/>
        </p:nvSpPr>
        <p:spPr>
          <a:xfrm>
            <a:off x="7833360" y="909828"/>
            <a:ext cx="109728" cy="109728"/>
          </a:xfrm>
          <a:prstGeom prst="rect">
            <a:avLst/>
          </a:prstGeom>
          <a:solidFill>
            <a:srgbClr val="FCE3DA"/>
          </a:solidFill>
          <a:ln w="635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egend 50 to 74%">
            <a:extLst>
              <a:ext uri="{FF2B5EF4-FFF2-40B4-BE49-F238E27FC236}">
                <a16:creationId xmlns:a16="http://schemas.microsoft.com/office/drawing/2014/main" id="{00E28BCF-A616-487D-A74F-A1750555F9E9}"/>
              </a:ext>
            </a:extLst>
          </p:cNvPr>
          <p:cNvSpPr txBox="1"/>
          <p:nvPr/>
        </p:nvSpPr>
        <p:spPr>
          <a:xfrm>
            <a:off x="7165848" y="896112"/>
            <a:ext cx="667512" cy="15270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GB" sz="800">
                <a:solidFill>
                  <a:srgbClr val="666666"/>
                </a:solidFill>
                <a:latin typeface="DM Sans"/>
              </a:rPr>
              <a:t>50 to 74%</a:t>
            </a:r>
            <a:endParaRPr lang="en-IN" sz="900">
              <a:solidFill>
                <a:srgbClr val="000000"/>
              </a:solidFill>
              <a:latin typeface="DM Sans ExtraBold"/>
            </a:endParaRPr>
          </a:p>
        </p:txBody>
      </p:sp>
      <p:sp>
        <p:nvSpPr>
          <p:cNvPr id="23" name="Legend swatch 50 to 74%"/>
          <p:cNvSpPr/>
          <p:nvPr/>
        </p:nvSpPr>
        <p:spPr>
          <a:xfrm>
            <a:off x="7010400" y="909828"/>
            <a:ext cx="109728" cy="109728"/>
          </a:xfrm>
          <a:prstGeom prst="rect">
            <a:avLst/>
          </a:prstGeom>
          <a:solidFill>
            <a:srgbClr val="F0F0F0"/>
          </a:solidFill>
          <a:ln w="635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Legend 75% or more">
            <a:extLst>
              <a:ext uri="{FF2B5EF4-FFF2-40B4-BE49-F238E27FC236}">
                <a16:creationId xmlns:a16="http://schemas.microsoft.com/office/drawing/2014/main" id="{00E28BCF-A616-487D-A74F-A1750555F9E9}"/>
              </a:ext>
            </a:extLst>
          </p:cNvPr>
          <p:cNvSpPr txBox="1"/>
          <p:nvPr/>
        </p:nvSpPr>
        <p:spPr>
          <a:xfrm>
            <a:off x="6251448" y="896112"/>
            <a:ext cx="758952" cy="152704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GB" sz="800">
                <a:solidFill>
                  <a:srgbClr val="666666"/>
                </a:solidFill>
                <a:latin typeface="DM Sans"/>
              </a:rPr>
              <a:t>75% or more</a:t>
            </a:r>
            <a:endParaRPr lang="en-IN" sz="900">
              <a:solidFill>
                <a:srgbClr val="000000"/>
              </a:solidFill>
              <a:latin typeface="DM Sans ExtraBold"/>
            </a:endParaRPr>
          </a:p>
        </p:txBody>
      </p:sp>
      <p:sp>
        <p:nvSpPr>
          <p:cNvPr id="24" name="Legend swatch 75% or more"/>
          <p:cNvSpPr/>
          <p:nvPr/>
        </p:nvSpPr>
        <p:spPr>
          <a:xfrm>
            <a:off x="6096000" y="909828"/>
            <a:ext cx="109728" cy="109728"/>
          </a:xfrm>
          <a:prstGeom prst="rect">
            <a:avLst/>
          </a:prstGeom>
          <a:solidFill>
            <a:srgbClr val="D6E4F0"/>
          </a:solidFill>
          <a:ln w="635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otnote">
            <a:extLst>
              <a:ext uri="{FF2B5EF4-FFF2-40B4-BE49-F238E27FC236}">
                <a16:creationId xmlns:a16="http://schemas.microsoft.com/office/drawing/2014/main" id="{DFA84389-5132-406E-8999-14D4F1F2C4EB}"/>
              </a:ext>
            </a:extLst>
          </p:cNvPr>
          <p:cNvSpPr txBox="1"/>
          <p:nvPr/>
        </p:nvSpPr>
        <p:spPr>
          <a:xfrm>
            <a:off x="533400" y="4791456"/>
            <a:ext cx="8077200" cy="150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r>
              <a:rPr lang="en-IN" sz="800">
                <a:solidFill>
                  <a:srgbClr val="666666"/>
                </a:solidFill>
                <a:latin typeface="DM Sans"/>
              </a:rPr>
              <a:t>10 to 23 people per building, so small gaps can be chance. The P-116 gaps on discounts and the app are not. All includes 5 people from P-135 and P-113.</a:t>
            </a:r>
          </a:p>
        </p:txBody>
      </p:sp>
    </p:spTree>
    <p:extLst>
      <p:ext uri="{BB962C8B-B14F-4D97-AF65-F5344CB8AC3E}">
        <p14:creationId xmlns:p14="http://schemas.microsoft.com/office/powerpoint/2010/main" val="338800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0E0069-20A5-48AF-AD9F-CAC37C7224E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044795be-c7cb-4071-b6ba-866c2909343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PB Health awareness survey</dc:title>
  <dc:subject/>
  <dc:creator>Praful Puranik</dc:creator>
  <cp:keywords/>
  <dc:description>generated using python-pptx</dc:description>
  <cp:revision>3</cp:revision>
  <dcterms:created xsi:type="dcterms:W3CDTF">2013-01-27T09:14:16Z</dcterms:created>
  <dcterms:modified xsi:type="dcterms:W3CDTF">2026-10-21T08:06:55Z</dcterms:modified>
  <cp:category/>
</cp:coreProperties>
</file>