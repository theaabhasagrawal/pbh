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455" r:id="rId25"/>
    <p:sldId id="463" r:id="rId4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31C0BD4-B821-496E-1061-C02231CC4264}" name="Praful Puranik" initials="P" userId="S::Praful.Puranik@pbhealth1.onmicrosoft.com::fbcf6586-9dd7-4d02-8059-24b78a7f872c" providerId="AD"/>
  <p188:author id="{7DB42ADE-3CC5-2607-CFD5-4C2AD6F6546F}" name="Shubham Khurana" initials="SK" userId="S::shubham.khurana@pbhealth1.onmicrosoft.com::fbf95817-d7ac-4183-877d-f1deabac35c8" providerId="AD"/>
  <p188:author id="{EEF52DFF-D332-EBCA-0DE1-EBE8480BD5C7}" name="Guest User" initials="GU" userId="S::urn:spo:tenantanon#1fb24620-25cd-4c90-99ff-710abe120080::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F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604" dt="2026-10-21T08:06:54.464"/>
    <p1510:client id="{46E91A80-E50F-46CA-8E2B-21EC56140D38}" v="3555" dt="2026-10-21T08:04:38.608"/>
    <p1510:client id="{B1A2291B-DC63-1FF8-3B8A-5BA93B52A2FC}" v="175" dt="2026-10-21T07:59:16.011"/>
    <p1510:client id="{C28AD3A7-99E7-85DD-50CD-0C97AE7DF3C0}" v="3" dt="2026-10-21T06:07:32.3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5" Type="http://schemas.openxmlformats.org/officeDocument/2006/relationships/slide" Target="slides/slide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5/10/relationships/revisionInfo" Target="revisionInfo.xml"/><Relationship Id="rId44" Type="http://schemas.microsoft.com/office/2018/10/relationships/authors" Target="authors.xml"/><Relationship Id="rId45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01579E"/>
            </a:solidFill>
          </c:spPr>
          <c:cat>
            <c:strRef>
              <c:f>Sheet1!$A$2:$A$5</c:f>
              <c:strCache>
                <c:ptCount val="4"/>
                <c:pt idx="0">
                  <c:v>P-84</c:v>
                </c:pt>
                <c:pt idx="1">
                  <c:v>P-120</c:v>
                </c:pt>
                <c:pt idx="2">
                  <c:v>P-116</c:v>
                </c:pt>
                <c:pt idx="3">
                  <c:v>P-119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13</c:v>
                </c:pt>
                <c:pt idx="2">
                  <c:v>11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600" b="0">
                  <a:solidFill>
                    <a:srgbClr val="EA4722"/>
                  </a:solidFill>
                  <a:latin typeface="Nunito Extra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808080"/>
            </a:solidFill>
          </a:ln>
        </c:spPr>
        <c:txPr>
          <a:bodyPr/>
          <a:lstStyle/>
          <a:p>
            <a:pPr>
              <a:defRPr sz="1000">
                <a:solidFill>
                  <a:srgbClr val="000000"/>
                </a:solidFill>
                <a:latin typeface="DM Sans ExtraBol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A1A1A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8C26C7-A5AD-4BF8-9E6B-0043C5A3848A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1DF41-BAFA-4C5C-8721-13C03FD699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0763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01AA-8799-E1FC-7C8C-0891EEFB6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BCFFC0-586F-871E-09C6-3368EAD85CC6}"/>
              </a:ext>
            </a:extLst>
          </p:cNvPr>
          <p:cNvSpPr txBox="1"/>
          <p:nvPr/>
        </p:nvSpPr>
        <p:spPr>
          <a:xfrm>
            <a:off x="533400" y="165100"/>
            <a:ext cx="5588000" cy="1651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900">
                <a:solidFill>
                  <a:srgbClr val="EA4722"/>
                </a:solidFill>
                <a:latin typeface="DM Sans ExtraBold"/>
              </a:rPr>
              <a:t>PB HEALTH  ·  EMPLOYEE AWARENESS SURVEY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E00F0D-A742-5411-1DF2-52DE292A0FEF}"/>
              </a:ext>
            </a:extLst>
          </p:cNvPr>
          <p:cNvSpPr txBox="1"/>
          <p:nvPr/>
        </p:nvSpPr>
        <p:spPr>
          <a:xfrm>
            <a:off x="533400" y="330200"/>
            <a:ext cx="78740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GB" sz="1900">
                <a:solidFill>
                  <a:srgbClr val="000000"/>
                </a:solidFill>
                <a:latin typeface="Nunito ExtraBold"/>
              </a:rPr>
              <a:t>Survey coverage by building</a:t>
            </a:r>
            <a:endParaRPr lang="en-IN" sz="1900">
              <a:solidFill>
                <a:srgbClr val="000000"/>
              </a:solidFill>
              <a:latin typeface="Nunito Extra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56F41-F4FF-4EE3-8A61-95CF19C493C9}"/>
              </a:ext>
            </a:extLst>
          </p:cNvPr>
          <p:cNvSpPr txBox="1"/>
          <p:nvPr/>
        </p:nvSpPr>
        <p:spPr>
          <a:xfrm>
            <a:off x="5334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57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A84389-5132-406E-8999-14D4F1F2C4EB}"/>
              </a:ext>
            </a:extLst>
          </p:cNvPr>
          <p:cNvSpPr txBox="1"/>
          <p:nvPr/>
        </p:nvSpPr>
        <p:spPr>
          <a:xfrm>
            <a:off x="5334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responses in 4 buildings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DB843F-302B-4B3E-851F-F40C2E776B71}"/>
              </a:ext>
            </a:extLst>
          </p:cNvPr>
          <p:cNvSpPr txBox="1"/>
          <p:nvPr/>
        </p:nvSpPr>
        <p:spPr>
          <a:xfrm>
            <a:off x="25908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A9C49-0FF0-485B-971E-48FF5D2045CD}"/>
              </a:ext>
            </a:extLst>
          </p:cNvPr>
          <p:cNvSpPr txBox="1"/>
          <p:nvPr/>
        </p:nvSpPr>
        <p:spPr>
          <a:xfrm>
            <a:off x="25908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floors covered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744575-D490-4F48-94B1-D0F6B4617010}"/>
              </a:ext>
            </a:extLst>
          </p:cNvPr>
          <p:cNvSpPr txBox="1"/>
          <p:nvPr/>
        </p:nvSpPr>
        <p:spPr>
          <a:xfrm>
            <a:off x="46482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1,953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9C92D8-4F68-405A-BBD7-956A4934A822}"/>
              </a:ext>
            </a:extLst>
          </p:cNvPr>
          <p:cNvSpPr txBox="1"/>
          <p:nvPr/>
        </p:nvSpPr>
        <p:spPr>
          <a:xfrm>
            <a:off x="46482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1100">
                <a:solidFill>
                  <a:srgbClr val="666666"/>
                </a:solidFill>
                <a:latin typeface="DM Sans"/>
              </a:rPr>
              <a:t>seats in these buildings</a:t>
            </a:r>
            <a:endParaRPr lang="en-IN" sz="1100">
              <a:solidFill>
                <a:srgbClr val="666666"/>
              </a:solidFill>
              <a:latin typeface="DM San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D01BBB-493C-4695-8F15-0098C2FF6A50}"/>
              </a:ext>
            </a:extLst>
          </p:cNvPr>
          <p:cNvSpPr txBox="1"/>
          <p:nvPr/>
        </p:nvSpPr>
        <p:spPr>
          <a:xfrm>
            <a:off x="67056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2.9%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594894-A9EE-466D-9DA8-5594E62C7334}"/>
              </a:ext>
            </a:extLst>
          </p:cNvPr>
          <p:cNvSpPr txBox="1"/>
          <p:nvPr/>
        </p:nvSpPr>
        <p:spPr>
          <a:xfrm>
            <a:off x="67056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of seats reached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0392D-5F01-4E42-A237-6774F1A6B0FC}"/>
              </a:ext>
            </a:extLst>
          </p:cNvPr>
          <p:cNvSpPr/>
          <p:nvPr/>
        </p:nvSpPr>
        <p:spPr>
          <a:xfrm>
            <a:off x="533400" y="1591056"/>
            <a:ext cx="8077200" cy="9525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Label RESPONSES BY BUILDING">
            <a:extLst>
              <a:ext uri="{FF2B5EF4-FFF2-40B4-BE49-F238E27FC236}">
                <a16:creationId xmlns:a16="http://schemas.microsoft.com/office/drawing/2014/main" id="{00E28BCF-A616-487D-A74F-A1750555F9E9}"/>
              </a:ext>
            </a:extLst>
          </p:cNvPr>
          <p:cNvSpPr txBox="1"/>
          <p:nvPr/>
        </p:nvSpPr>
        <p:spPr>
          <a:xfrm>
            <a:off x="530352" y="1700784"/>
            <a:ext cx="4480560" cy="152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900">
                <a:solidFill>
                  <a:srgbClr val="000000"/>
                </a:solidFill>
                <a:latin typeface="DM Sans ExtraBold"/>
              </a:rPr>
              <a:t>RESPONSES BY BUILDING</a:t>
            </a:r>
            <a:endParaRPr lang="en-IN" sz="900">
              <a:solidFill>
                <a:srgbClr val="000000"/>
              </a:solidFill>
              <a:latin typeface="DM Sans ExtraBold"/>
            </a:endParaRPr>
          </a:p>
        </p:txBody>
      </p:sp>
      <p:sp>
        <p:nvSpPr>
          <p:cNvPr id="22" name="Label COVERAGE BY BUILDING">
            <a:extLst>
              <a:ext uri="{FF2B5EF4-FFF2-40B4-BE49-F238E27FC236}">
                <a16:creationId xmlns:a16="http://schemas.microsoft.com/office/drawing/2014/main" id="{00E28BCF-A616-487D-A74F-A1750555F9E9}"/>
              </a:ext>
            </a:extLst>
          </p:cNvPr>
          <p:cNvSpPr txBox="1"/>
          <p:nvPr/>
        </p:nvSpPr>
        <p:spPr>
          <a:xfrm>
            <a:off x="5376672" y="1700784"/>
            <a:ext cx="3233928" cy="152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900">
                <a:solidFill>
                  <a:srgbClr val="000000"/>
                </a:solidFill>
                <a:latin typeface="DM Sans ExtraBold"/>
              </a:rPr>
              <a:t>COVERAGE BY BUILDING</a:t>
            </a:r>
            <a:endParaRPr lang="en-IN" sz="900">
              <a:solidFill>
                <a:srgbClr val="000000"/>
              </a:solidFill>
              <a:latin typeface="DM Sans ExtraBold"/>
            </a:endParaRPr>
          </a:p>
        </p:txBody>
      </p:sp>
      <p:graphicFrame>
        <p:nvGraphicFramePr>
          <p:cNvPr id="23" name="Table COVERAGE BY BUILDING">
            <a:extLst>
              <a:ext uri="{FF2B5EF4-FFF2-40B4-BE49-F238E27FC236}">
                <a16:creationId xmlns:a16="http://schemas.microsoft.com/office/drawing/2014/main" id="{463CAD2E-FEF6-4422-A95C-5F17A77C5A02}"/>
              </a:ext>
            </a:extLst>
          </p:cNvPr>
          <p:cNvGraphicFramePr>
            <a:graphicFrameLocks noGrp="1"/>
          </p:cNvGraphicFramePr>
          <p:nvPr/>
        </p:nvGraphicFramePr>
        <p:xfrm>
          <a:off x="5376672" y="1883664"/>
          <a:ext cx="3233928" cy="2212848"/>
        </p:xfrm>
        <a:graphic>
          <a:graphicData uri="http://schemas.openxmlformats.org/drawingml/2006/table">
            <a:tbl>
              <a:tblPr/>
              <a:tblGrid>
                <a:gridCol w="1097280"/>
                <a:gridCol w="712216"/>
                <a:gridCol w="712216"/>
                <a:gridCol w="712216"/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 lang="en-IN" sz="900"/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Responses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57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Seats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1,953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Coverage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2.9%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4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RESPONSES AND SEATS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P-84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23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732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3.1%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P-120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13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507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2.6%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P-116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362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3.0%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P-119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352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2.8%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4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FLOORS COVERED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P-84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gridSpan="3"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1st to 5th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P-120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gridSpan="3"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B1, 1st to 3rd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P-116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gridSpan="3"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B1, 1st to 3rd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P-119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gridSpan="3"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B1, GF, 1st to 3rd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ooter-gradient.png">
            <a:extLst>
              <a:ext uri="{FF2B5EF4-FFF2-40B4-BE49-F238E27FC236}">
                <a16:creationId xmlns:a16="http://schemas.microsoft.com/office/drawing/2014/main" id="{07CD63EE-4FCA-0F03-55C7-9D4648F89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56632"/>
            <a:ext cx="9144000" cy="91440"/>
          </a:xfrm>
          <a:prstGeom prst="rect">
            <a:avLst/>
          </a:prstGeom>
        </p:spPr>
      </p:pic>
      <p:pic>
        <p:nvPicPr>
          <p:cNvPr id="12" name="Picture 11" descr="accent-bar.png">
            <a:extLst>
              <a:ext uri="{FF2B5EF4-FFF2-40B4-BE49-F238E27FC236}">
                <a16:creationId xmlns:a16="http://schemas.microsoft.com/office/drawing/2014/main" id="{4E66AF87-7625-E3CB-46A7-267C6F1C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80" y="670347"/>
            <a:ext cx="8430260" cy="54864"/>
          </a:xfrm>
          <a:prstGeom prst="rect">
            <a:avLst/>
          </a:prstGeom>
        </p:spPr>
      </p:pic>
      <p:graphicFrame>
        <p:nvGraphicFramePr>
          <p:cNvPr id="24" name="Chart Responses by building"/>
          <p:cNvGraphicFramePr>
            <a:graphicFrameLocks noGrp="1"/>
          </p:cNvGraphicFramePr>
          <p:nvPr/>
        </p:nvGraphicFramePr>
        <p:xfrm>
          <a:off x="530352" y="1900000"/>
          <a:ext cx="4480560" cy="283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Footnote">
            <a:extLst>
              <a:ext uri="{FF2B5EF4-FFF2-40B4-BE49-F238E27FC236}">
                <a16:creationId xmlns:a16="http://schemas.microsoft.com/office/drawing/2014/main" id="{7A8A9C49-0FF0-485B-971E-48FF5D2045CD}"/>
              </a:ext>
            </a:extLst>
          </p:cNvPr>
          <p:cNvSpPr txBox="1"/>
          <p:nvPr/>
        </p:nvSpPr>
        <p:spPr>
          <a:xfrm>
            <a:off x="533400" y="4800600"/>
            <a:ext cx="8077200" cy="15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800">
                <a:solidFill>
                  <a:srgbClr val="666666"/>
                </a:solidFill>
                <a:latin typeface="DM Sans"/>
              </a:rPr>
              <a:t>Survey on 22 Oct 2026. 5 more responses came from P-135 (4) and P-113 (1) and are not shown. Seats from the floor-wise seat count file.</a:t>
            </a:r>
          </a:p>
        </p:txBody>
      </p:sp>
    </p:spTree>
    <p:extLst>
      <p:ext uri="{BB962C8B-B14F-4D97-AF65-F5344CB8AC3E}">
        <p14:creationId xmlns:p14="http://schemas.microsoft.com/office/powerpoint/2010/main" val="3388007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01AA-8799-E1FC-7C8C-0891EEFB6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BCFFC0-586F-871E-09C6-3368EAD85CC6}"/>
              </a:ext>
            </a:extLst>
          </p:cNvPr>
          <p:cNvSpPr txBox="1"/>
          <p:nvPr/>
        </p:nvSpPr>
        <p:spPr>
          <a:xfrm>
            <a:off x="533400" y="165100"/>
            <a:ext cx="5588000" cy="1651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900">
                <a:solidFill>
                  <a:srgbClr val="EA4722"/>
                </a:solidFill>
                <a:latin typeface="DM Sans ExtraBold"/>
              </a:rPr>
              <a:t>PB HEALTH  ·  EMPLOYEE AWARENESS SURVEY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E00F0D-A742-5411-1DF2-52DE292A0FEF}"/>
              </a:ext>
            </a:extLst>
          </p:cNvPr>
          <p:cNvSpPr txBox="1"/>
          <p:nvPr/>
        </p:nvSpPr>
        <p:spPr>
          <a:xfrm>
            <a:off x="533400" y="330200"/>
            <a:ext cx="78740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GB" sz="1900">
                <a:solidFill>
                  <a:srgbClr val="000000"/>
                </a:solidFill>
                <a:latin typeface="Nunito ExtraBold"/>
              </a:rPr>
              <a:t>Responses by building</a:t>
            </a:r>
            <a:endParaRPr lang="en-IN" sz="1900">
              <a:solidFill>
                <a:srgbClr val="000000"/>
              </a:solidFill>
              <a:latin typeface="Nunito Extra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56F41-F4FF-4EE3-8A61-95CF19C493C9}"/>
              </a:ext>
            </a:extLst>
          </p:cNvPr>
          <p:cNvSpPr txBox="1"/>
          <p:nvPr/>
        </p:nvSpPr>
        <p:spPr>
          <a:xfrm>
            <a:off x="5334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91–100%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A84389-5132-406E-8999-14D4F1F2C4EB}"/>
              </a:ext>
            </a:extLst>
          </p:cNvPr>
          <p:cNvSpPr txBox="1"/>
          <p:nvPr/>
        </p:nvSpPr>
        <p:spPr>
          <a:xfrm>
            <a:off x="5334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knew about the hospital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DB843F-302B-4B3E-851F-F40C2E776B71}"/>
              </a:ext>
            </a:extLst>
          </p:cNvPr>
          <p:cNvSpPr txBox="1"/>
          <p:nvPr/>
        </p:nvSpPr>
        <p:spPr>
          <a:xfrm>
            <a:off x="25908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27–92%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A9C49-0FF0-485B-971E-48FF5D2045CD}"/>
              </a:ext>
            </a:extLst>
          </p:cNvPr>
          <p:cNvSpPr txBox="1"/>
          <p:nvPr/>
        </p:nvSpPr>
        <p:spPr>
          <a:xfrm>
            <a:off x="25908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know 75% off consultation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744575-D490-4F48-94B1-D0F6B4617010}"/>
              </a:ext>
            </a:extLst>
          </p:cNvPr>
          <p:cNvSpPr txBox="1"/>
          <p:nvPr/>
        </p:nvSpPr>
        <p:spPr>
          <a:xfrm>
            <a:off x="46482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27–78%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9C92D8-4F68-405A-BBD7-956A4934A822}"/>
              </a:ext>
            </a:extLst>
          </p:cNvPr>
          <p:cNvSpPr txBox="1"/>
          <p:nvPr/>
        </p:nvSpPr>
        <p:spPr>
          <a:xfrm>
            <a:off x="46482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1100">
                <a:solidFill>
                  <a:srgbClr val="666666"/>
                </a:solidFill>
                <a:latin typeface="DM Sans"/>
              </a:rPr>
              <a:t>know 30% off X-ray, CT, MRI</a:t>
            </a:r>
            <a:endParaRPr lang="en-IN" sz="1100">
              <a:solidFill>
                <a:srgbClr val="666666"/>
              </a:solidFill>
              <a:latin typeface="DM San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D01BBB-493C-4695-8F15-0098C2FF6A50}"/>
              </a:ext>
            </a:extLst>
          </p:cNvPr>
          <p:cNvSpPr txBox="1"/>
          <p:nvPr/>
        </p:nvSpPr>
        <p:spPr>
          <a:xfrm>
            <a:off x="6705600" y="863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b" anchorCtr="0">
            <a:noAutofit/>
          </a:bodyPr>
          <a:lstStyle/>
          <a:p>
            <a:r>
              <a:rPr lang="en-IN" sz="2800">
                <a:solidFill>
                  <a:srgbClr val="EA4722"/>
                </a:solidFill>
                <a:latin typeface="Nunito ExtraBold"/>
              </a:rPr>
              <a:t>0–62%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594894-A9EE-466D-9DA8-5594E62C7334}"/>
              </a:ext>
            </a:extLst>
          </p:cNvPr>
          <p:cNvSpPr txBox="1"/>
          <p:nvPr/>
        </p:nvSpPr>
        <p:spPr>
          <a:xfrm>
            <a:off x="6705600" y="1320800"/>
            <a:ext cx="201168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1100">
                <a:solidFill>
                  <a:srgbClr val="666666"/>
                </a:solidFill>
                <a:latin typeface="DM Sans"/>
              </a:rPr>
              <a:t>have downloaded the app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0392D-5F01-4E42-A237-6774F1A6B0FC}"/>
              </a:ext>
            </a:extLst>
          </p:cNvPr>
          <p:cNvSpPr/>
          <p:nvPr/>
        </p:nvSpPr>
        <p:spPr>
          <a:xfrm>
            <a:off x="533400" y="1591056"/>
            <a:ext cx="8077200" cy="9525"/>
          </a:xfrm>
          <a:prstGeom prst="rect">
            <a:avLst/>
          </a:prstGeom>
          <a:solidFill>
            <a:srgbClr val="E0E0E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Label WHAT THEY KNOW">
            <a:extLst>
              <a:ext uri="{FF2B5EF4-FFF2-40B4-BE49-F238E27FC236}">
                <a16:creationId xmlns:a16="http://schemas.microsoft.com/office/drawing/2014/main" id="{00E28BCF-A616-487D-A74F-A1750555F9E9}"/>
              </a:ext>
            </a:extLst>
          </p:cNvPr>
          <p:cNvSpPr txBox="1"/>
          <p:nvPr/>
        </p:nvSpPr>
        <p:spPr>
          <a:xfrm>
            <a:off x="530352" y="1700784"/>
            <a:ext cx="3813048" cy="152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900">
                <a:solidFill>
                  <a:srgbClr val="000000"/>
                </a:solidFill>
                <a:latin typeface="DM Sans ExtraBold"/>
              </a:rPr>
              <a:t>WHAT THEY KNOW  ·  % OF RESPONDENTS</a:t>
            </a:r>
            <a:endParaRPr lang="en-IN" sz="900">
              <a:solidFill>
                <a:srgbClr val="000000"/>
              </a:solidFill>
              <a:latin typeface="DM Sans ExtraBold"/>
            </a:endParaRPr>
          </a:p>
        </p:txBody>
      </p:sp>
      <p:graphicFrame>
        <p:nvGraphicFramePr>
          <p:cNvPr id="21" name="Table WHAT THEY KNOW">
            <a:extLst>
              <a:ext uri="{FF2B5EF4-FFF2-40B4-BE49-F238E27FC236}">
                <a16:creationId xmlns:a16="http://schemas.microsoft.com/office/drawing/2014/main" id="{463CAD2E-FEF6-4422-A95C-5F17A77C5A02}"/>
              </a:ext>
            </a:extLst>
          </p:cNvPr>
          <p:cNvGraphicFramePr>
            <a:graphicFrameLocks noGrp="1"/>
          </p:cNvGraphicFramePr>
          <p:nvPr/>
        </p:nvGraphicFramePr>
        <p:xfrm>
          <a:off x="530352" y="1883664"/>
          <a:ext cx="3813048" cy="1837944"/>
        </p:xfrm>
        <a:graphic>
          <a:graphicData uri="http://schemas.openxmlformats.org/drawingml/2006/table">
            <a:tbl>
              <a:tblPr/>
              <a:tblGrid>
                <a:gridCol w="1600200"/>
                <a:gridCol w="442569"/>
                <a:gridCol w="442569"/>
                <a:gridCol w="442569"/>
                <a:gridCol w="442569"/>
                <a:gridCol w="442572"/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 lang="en-IN" sz="900"/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P-84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23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P-120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13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P-116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P-119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10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Total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62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6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THE HOSPITAL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Knew about the hospital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91%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97%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Location is IFFCO Chowk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98%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Know all services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90%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92%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6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THE BENEFITS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75% off consultation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92%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27%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63%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30% off X-ray, CT, MRI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27%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61%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Family can use them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74%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64%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66%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</a:tbl>
          </a:graphicData>
        </a:graphic>
      </p:graphicFrame>
      <p:sp>
        <p:nvSpPr>
          <p:cNvPr id="22" name="Label WHAT THEY DO">
            <a:extLst>
              <a:ext uri="{FF2B5EF4-FFF2-40B4-BE49-F238E27FC236}">
                <a16:creationId xmlns:a16="http://schemas.microsoft.com/office/drawing/2014/main" id="{00E28BCF-A616-487D-A74F-A1750555F9E9}"/>
              </a:ext>
            </a:extLst>
          </p:cNvPr>
          <p:cNvSpPr txBox="1"/>
          <p:nvPr/>
        </p:nvSpPr>
        <p:spPr>
          <a:xfrm>
            <a:off x="4800600" y="1700784"/>
            <a:ext cx="3813048" cy="1524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GB" sz="900">
                <a:solidFill>
                  <a:srgbClr val="000000"/>
                </a:solidFill>
                <a:latin typeface="DM Sans ExtraBold"/>
              </a:rPr>
              <a:t>WHAT THEY DO  ·  % OF RESPONDENTS</a:t>
            </a:r>
            <a:endParaRPr lang="en-IN" sz="900">
              <a:solidFill>
                <a:srgbClr val="000000"/>
              </a:solidFill>
              <a:latin typeface="DM Sans ExtraBold"/>
            </a:endParaRPr>
          </a:p>
        </p:txBody>
      </p:sp>
      <p:graphicFrame>
        <p:nvGraphicFramePr>
          <p:cNvPr id="23" name="Table WHAT THEY DO">
            <a:extLst>
              <a:ext uri="{FF2B5EF4-FFF2-40B4-BE49-F238E27FC236}">
                <a16:creationId xmlns:a16="http://schemas.microsoft.com/office/drawing/2014/main" id="{463CAD2E-FEF6-4422-A95C-5F17A77C5A02}"/>
              </a:ext>
            </a:extLst>
          </p:cNvPr>
          <p:cNvGraphicFramePr>
            <a:graphicFrameLocks noGrp="1"/>
          </p:cNvGraphicFramePr>
          <p:nvPr/>
        </p:nvGraphicFramePr>
        <p:xfrm>
          <a:off x="4800600" y="1883664"/>
          <a:ext cx="3813048" cy="2212848"/>
        </p:xfrm>
        <a:graphic>
          <a:graphicData uri="http://schemas.openxmlformats.org/drawingml/2006/table">
            <a:tbl>
              <a:tblPr/>
              <a:tblGrid>
                <a:gridCol w="1600200"/>
                <a:gridCol w="442569"/>
                <a:gridCol w="442569"/>
                <a:gridCol w="442569"/>
                <a:gridCol w="442569"/>
                <a:gridCol w="442572"/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 lang="en-IN" sz="900"/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P-84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23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P-120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13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P-116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P-119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10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900" b="0">
                          <a:solidFill>
                            <a:srgbClr val="000000"/>
                          </a:solidFill>
                          <a:latin typeface="DM Sans ExtraBold"/>
                        </a:rPr>
                        <a:t>Total</a:t>
                      </a:r>
                    </a:p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62</a:t>
                      </a:r>
                    </a:p>
                  </a:txBody>
                  <a:tcPr marL="45720" marR="54864" marT="22860" marB="22860" anchor="b">
                    <a:lnL w="0"/>
                    <a:lnR w="0"/>
                    <a:lnT w="0"/>
                    <a:lnB w="12700" cap="flat" cmpd="sng" algn="ctr">
                      <a:solidFill>
                        <a:srgbClr val="1A1A1A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6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ACTION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0"/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Downloaded the app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EA4722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26%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Will visit: Yes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65%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85%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73%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60%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66%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Will visit: Maybe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35%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27%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40%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32%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Will visit: No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73736">
                <a:tc gridSpan="6">
                  <a:txBody>
                    <a:bodyPr/>
                    <a:lstStyle/>
                    <a:p>
                      <a:pPr algn="l"/>
                      <a:r>
                        <a:rPr lang="en-IN" sz="800" b="0">
                          <a:solidFill>
                            <a:srgbClr val="EA4722"/>
                          </a:solidFill>
                          <a:latin typeface="DM Sans ExtraBold"/>
                        </a:rPr>
                        <a:t>HOW THEY HEARD (OF THOSE WHO KNEW)</a:t>
                      </a:r>
                    </a:p>
                  </a:txBody>
                  <a:tcPr marL="45720" marR="54864" marT="45720" marB="0" anchor="ctr">
                    <a:lnL w="0"/>
                    <a:lnR w="0"/>
                    <a:lnT w="9525" cap="flat" cmpd="sng" algn="ctr">
                      <a:solidFill>
                        <a:srgbClr val="808080"/>
                      </a:solidFill>
                      <a:prstDash val="solid"/>
                    </a:lnT>
                    <a:lnB w="0"/>
                    <a:lnTlToBr w="0"/>
                    <a:lnBlToTr w="0"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Standee / posters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83%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54%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70%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40%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63%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Colleague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30%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40%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22%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Office email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17%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8%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12%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Social media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0">
                          <a:solidFill>
                            <a:srgbClr val="1A1A1A"/>
                          </a:solidFill>
                          <a:latin typeface="DM Sans"/>
                        </a:rPr>
                        <a:t>10%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sz="1000" b="1">
                          <a:solidFill>
                            <a:srgbClr val="1A1A1A"/>
                          </a:solidFill>
                          <a:latin typeface="DM Sans"/>
                        </a:rPr>
                        <a:t>3%</a:t>
                      </a:r>
                    </a:p>
                  </a:txBody>
                  <a:tcPr marL="45720" marR="54864" marT="22860" marB="22860" anchor="ctr">
                    <a:lnL w="0"/>
                    <a:lnR w="0"/>
                    <a:lnT w="0"/>
                    <a:lnB w="9525" cap="flat" cmpd="sng" algn="ctr">
                      <a:solidFill>
                        <a:srgbClr val="E0E0E0"/>
                      </a:solidFill>
                      <a:prstDash val="solid"/>
                    </a:lnB>
                    <a:lnTlToBr w="0"/>
                    <a:lnBlToTr w="0"/>
                  </a:tcPr>
                </a:tc>
              </a:tr>
            </a:tbl>
          </a:graphicData>
        </a:graphic>
      </p:graphicFrame>
      <p:pic>
        <p:nvPicPr>
          <p:cNvPr id="4" name="Picture 3" descr="footer-gradient.png">
            <a:extLst>
              <a:ext uri="{FF2B5EF4-FFF2-40B4-BE49-F238E27FC236}">
                <a16:creationId xmlns:a16="http://schemas.microsoft.com/office/drawing/2014/main" id="{07CD63EE-4FCA-0F03-55C7-9D4648F89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56632"/>
            <a:ext cx="9144000" cy="91440"/>
          </a:xfrm>
          <a:prstGeom prst="rect">
            <a:avLst/>
          </a:prstGeom>
        </p:spPr>
      </p:pic>
      <p:pic>
        <p:nvPicPr>
          <p:cNvPr id="12" name="Picture 11" descr="accent-bar.png">
            <a:extLst>
              <a:ext uri="{FF2B5EF4-FFF2-40B4-BE49-F238E27FC236}">
                <a16:creationId xmlns:a16="http://schemas.microsoft.com/office/drawing/2014/main" id="{4E66AF87-7625-E3CB-46A7-267C6F1C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80" y="670347"/>
            <a:ext cx="8430260" cy="54864"/>
          </a:xfrm>
          <a:prstGeom prst="rect">
            <a:avLst/>
          </a:prstGeom>
        </p:spPr>
      </p:pic>
      <p:sp>
        <p:nvSpPr>
          <p:cNvPr id="17" name="Footnote">
            <a:extLst>
              <a:ext uri="{FF2B5EF4-FFF2-40B4-BE49-F238E27FC236}">
                <a16:creationId xmlns:a16="http://schemas.microsoft.com/office/drawing/2014/main" id="{57594894-A9EE-466D-9DA8-5594E62C7334}"/>
              </a:ext>
            </a:extLst>
          </p:cNvPr>
          <p:cNvSpPr txBox="1"/>
          <p:nvPr/>
        </p:nvSpPr>
        <p:spPr>
          <a:xfrm>
            <a:off x="533400" y="4800600"/>
            <a:ext cx="8077200" cy="15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 anchorCtr="0">
            <a:noAutofit/>
          </a:bodyPr>
          <a:lstStyle/>
          <a:p>
            <a:r>
              <a:rPr lang="en-IN" sz="800">
                <a:solidFill>
                  <a:srgbClr val="666666"/>
                </a:solidFill>
                <a:latin typeface="DM Sans"/>
              </a:rPr>
              <a:t>Ranges are the lowest and highest building. Orange marks a real gap, not chance (p &lt; 0.05). Total includes 5 responses from P-135 and P-113.</a:t>
            </a:r>
          </a:p>
        </p:txBody>
      </p:sp>
    </p:spTree>
    <p:extLst>
      <p:ext uri="{BB962C8B-B14F-4D97-AF65-F5344CB8AC3E}">
        <p14:creationId xmlns:p14="http://schemas.microsoft.com/office/powerpoint/2010/main" val="338800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0E0069-20A5-48AF-AD9F-CAC37C7224E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044795be-c7cb-4071-b6ba-866c2909343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36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PB Health awareness survey</dc:title>
  <dc:subject/>
  <dc:creator>Praful Puranik</dc:creator>
  <cp:keywords/>
  <dc:description>generated using python-pptx</dc:description>
  <cp:revision>3</cp:revision>
  <dcterms:created xsi:type="dcterms:W3CDTF">2013-01-27T09:14:16Z</dcterms:created>
  <dcterms:modified xsi:type="dcterms:W3CDTF">2026-10-21T08:06:55Z</dcterms:modified>
  <cp:category/>
</cp:coreProperties>
</file>